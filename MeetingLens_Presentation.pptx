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AI-POWERED MEETING INTELLIGENCE</a:t>
            </a:r>
          </a:p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</a:defRPr>
            </a:pPr>
            <a:r>
              <a:t>MeetingLens</a:t>
            </a:r>
          </a:p>
          <a:p>
            <a:pPr>
              <a:spcAft>
                <a:spcPts val="2600"/>
              </a:spcAft>
              <a:defRPr sz="2000">
                <a:solidFill>
                  <a:srgbClr val="A855F7"/>
                </a:solidFill>
              </a:defRPr>
            </a:pPr>
            <a:r>
              <a:t>Automated Summarization, Action Item Extraction &amp; Task Delegation Platform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</a:defRPr>
            </a:pPr>
            <a:r>
              <a:t>Transforming Spoken Conversations into Structured Knowledge &amp; Verifiable Execution</a:t>
            </a:r>
          </a:p>
          <a:p>
            <a:pPr>
              <a:defRPr sz="1200" b="1">
                <a:solidFill>
                  <a:srgbClr val="34D399"/>
                </a:solidFill>
              </a:defRPr>
            </a:pPr>
            <a:r>
              <a:t>Domain: Artificial Intelligence • Natural Language Processing • Full-Stack Web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MEETINGLENS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Statement: The Meeting Productivity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1. Information Loss &amp; Fatigue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30-60+ minute meetings overwhelm human working memory.</a:t>
            </a:r>
            <a:br/>
            <a:br/>
            <a:r>
              <a:t>• Crucial context, decisions, and technical reasoning are lost immediately after calls end.</a:t>
            </a:r>
            <a:br/>
            <a:br/>
            <a:r>
              <a:t>• Audio/video recordings are rarely rewatched due to lack of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2. Manual Note-Taking Flaws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Designated note-takers cannot fully participate in active brainstorming.</a:t>
            </a:r>
            <a:br/>
            <a:br/>
            <a:r>
              <a:t>• Human notes are subjective, prone to personal bias, and often incomplete.</a:t>
            </a:r>
            <a:br/>
            <a:br/>
            <a:r>
              <a:t>• Inconsistent note formats across teams prevent centralized searchability.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3. Task Accountability 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• &gt;40% of assigned action items in meetings fall through the cracks.</a:t>
            </a:r>
            <a:br/>
            <a:br/>
            <a:r>
              <a:t>• Verbal task assignments lack clear deadline, ownership, and priority definitions.</a:t>
            </a:r>
            <a:br/>
            <a:br/>
            <a:r>
              <a:t>• No built-in verification mechanism to review and confirm tasks before delegation.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MEETINGLENS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Expected Outcome &amp; Proposed Solution: MeetingLens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Core 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b="1">
                <a:solidFill>
                  <a:srgbClr val="38BDF8"/>
                </a:solidFill>
              </a:rPr>
              <a:t>Multi-Modal Meeting Capture: </a:t>
            </a:r>
            <a:r>
              <a:rPr>
                <a:solidFill>
                  <a:srgbClr val="F8FAFC"/>
                </a:solidFill>
              </a:rPr>
              <a:t>Record live audio with real-time Speech-to-Text or upload existing audio, video, and text logs.
</a:t>
            </a:r>
          </a:p>
          <a:p>
            <a:pPr>
              <a:defRPr sz="1300"/>
            </a:pPr>
            <a:r>
              <a:rPr b="1">
                <a:solidFill>
                  <a:srgbClr val="38BDF8"/>
                </a:solidFill>
              </a:rPr>
              <a:t>Multi-Tier AI Summaries: </a:t>
            </a:r>
            <a:r>
              <a:rPr>
                <a:solidFill>
                  <a:srgbClr val="F8FAFC"/>
                </a:solidFill>
              </a:rPr>
              <a:t>Generate concise Executive Summaries, detailed chronological breakdowns, and key decision logs.
</a:t>
            </a:r>
          </a:p>
          <a:p>
            <a:pPr>
              <a:defRPr sz="1300"/>
            </a:pPr>
            <a:r>
              <a:rPr b="1">
                <a:solidFill>
                  <a:srgbClr val="38BDF8"/>
                </a:solidFill>
              </a:rPr>
              <a:t>Automated Task Extraction: </a:t>
            </a:r>
            <a:r>
              <a:rPr>
                <a:solidFill>
                  <a:srgbClr val="F8FAFC"/>
                </a:solidFill>
              </a:rPr>
              <a:t>NLP engine detects tasks, assigns owners, identifies deadlines, and tags urgency levels automatically.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Key Measurable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b="1">
                <a:solidFill>
                  <a:srgbClr val="34D399"/>
                </a:solidFill>
              </a:rPr>
              <a:t>Human-in-the-Loop Task Approval: </a:t>
            </a:r>
            <a:r>
              <a:rPr>
                <a:solidFill>
                  <a:srgbClr val="F8FAFC"/>
                </a:solidFill>
              </a:rPr>
              <a:t>Interactive verification modal allowing managers to edit, confirm, or reassign AI tasks before saving.
</a:t>
            </a:r>
          </a:p>
          <a:p>
            <a:pPr>
              <a:defRPr sz="1300"/>
            </a:pPr>
            <a:r>
              <a:rPr b="1">
                <a:solidFill>
                  <a:srgbClr val="34D399"/>
                </a:solidFill>
              </a:rPr>
              <a:t>Meeting Health &amp; Quality Scoring: </a:t>
            </a:r>
            <a:r>
              <a:rPr>
                <a:solidFill>
                  <a:srgbClr val="F8FAFC"/>
                </a:solidFill>
              </a:rPr>
              <a:t>Objective metrics evaluating meeting efficiency, structure, and outcome clarity (0-100%).
</a:t>
            </a:r>
          </a:p>
          <a:p>
            <a:pPr>
              <a:defRPr sz="1300"/>
            </a:pPr>
            <a:r>
              <a:rPr b="1">
                <a:solidFill>
                  <a:srgbClr val="34D399"/>
                </a:solidFill>
              </a:rPr>
              <a:t>Centralized Knowledge Archive: </a:t>
            </a:r>
            <a:r>
              <a:rPr>
                <a:solidFill>
                  <a:srgbClr val="F8FAFC"/>
                </a:solidFill>
              </a:rPr>
              <a:t>Instant searchable repository with downloadable reports (PDF, Markdown, JSON).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MEETINGLENS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Workflow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01168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8FAFC"/>
                </a:solidFill>
              </a:defRPr>
            </a:pPr>
            <a:r>
              <a:t>Audio Ingestion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Live Voice Capture or Audio / Video / Text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554480"/>
            <a:ext cx="201168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19456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8FAFC"/>
                </a:solidFill>
              </a:defRPr>
            </a:pPr>
            <a:r>
              <a:t>Speech-to-Text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Real-time client transcription &amp; text preprocessing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554480"/>
            <a:ext cx="201168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9456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8FAFC"/>
                </a:solidFill>
              </a:defRPr>
            </a:pPr>
            <a:r>
              <a:t>AI Analysis 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LLM extracts summaries, action items &amp; quality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554480"/>
            <a:ext cx="201168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59" y="219456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8FAFC"/>
                </a:solidFill>
              </a:defRPr>
            </a:pPr>
            <a:r>
              <a:t>Task Approval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Human-in-the-loop review, edit &amp; owner assignment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554480"/>
            <a:ext cx="2011680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17373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194560"/>
            <a:ext cx="1737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F8FAFC"/>
                </a:solidFill>
              </a:defRPr>
            </a:pPr>
            <a:r>
              <a:t>Persistence &amp; Sync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Save to MySQL DB, dispatch alerts &amp; export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37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Workflow Data Flow Highlights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035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Microphone Stream / File -&gt; Speech Engine -&gt; Clean Transcript -&gt; Gemini / LLM Prompt -&gt; Structured JSON -&gt; Task Approval Modal -&gt; MySQL Database -&gt; Action Dashboard &amp; Export 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MEETINGLENS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Client Layer (React 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Live Voice Meeting Room (Web Speech API)</a:t>
            </a:r>
            <a:br/>
            <a:br/>
            <a:r>
              <a:t>• Meeting Details &amp; Dynamic Transcripts</a:t>
            </a:r>
            <a:br/>
            <a:br/>
            <a:r>
              <a:t>• Task Approval &amp; Delegation Modal</a:t>
            </a:r>
            <a:br/>
            <a:br/>
            <a:r>
              <a:t>• Analytics &amp; Executive Reports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5448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73736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2. API &amp; Gateway Layer (PHP 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19456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JWT Authentication &amp; Session Guard</a:t>
            </a:r>
            <a:br/>
            <a:br/>
            <a:r>
              <a:t>• /api/meetings - CRUD &amp; History Engine</a:t>
            </a:r>
            <a:br/>
            <a:br/>
            <a:r>
              <a:t>• /api/analyze - AI Prompt Orchestration</a:t>
            </a:r>
            <a:br/>
            <a:br/>
            <a:r>
              <a:t>• /api/action-items - Task State &amp; Delegation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73736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3. Intelligence Layer (AI / LLM)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19456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Google Gemini / LLM NLP Core</a:t>
            </a:r>
            <a:br/>
            <a:br/>
            <a:r>
              <a:t>• Structured JSON Schema Extraction</a:t>
            </a:r>
            <a:br/>
            <a:br/>
            <a:r>
              <a:t>• Context Cleaning &amp; Repair Engine</a:t>
            </a:r>
            <a:br/>
            <a:br/>
            <a:r>
              <a:t>• Meeting Quality &amp; Sentiment Scoring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554480"/>
            <a:ext cx="2542032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4856" y="173736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4. Data Persistence (MySQL)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194560"/>
            <a:ext cx="22677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users (Accounts, Credentials, Roles)</a:t>
            </a:r>
            <a:br/>
            <a:br/>
            <a:r>
              <a:t>• meetings (Transcripts, Summaries, Scores)</a:t>
            </a:r>
            <a:br/>
            <a:br/>
            <a:r>
              <a:t>• action_items (Tasks, Assignees, Deadlines)</a:t>
            </a:r>
            <a:br/>
            <a:br/>
            <a:r>
              <a:t>• Relational Foreign Key Integrity (InnoDB)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MEETINGLENS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Technologies &amp; Tools Planned / Implemented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Technology Stack Breakdown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60120" y="2011680"/>
          <a:ext cx="102412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493776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Technology / Tool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Justification / Role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Frontend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React.js (Vite), Tailwind / Vanilla CSS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High-speed rendering, modular reactive components &amp; responsive design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Audio / STT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Web Speech API, MediaRecorder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Zero-latency in-browser real-time speech capture &amp; audio processing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Backend Server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PHP 8.x (RESTful API), Apache / XAMPP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Lightweight, robust API routing, JWT validation &amp; prompt sanitization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MySQL (InnoDB Relational Schema)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ACID-compliant storage for users, transcripts, summaries &amp; action items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/ NLP 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Google Gemini API / Multi-Model LLM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Zero-shot JSON task extraction, executive summaries &amp; quality scoring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MEETINGLENS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Pseudocode: Meeting Intelligence Pipeline (MIP)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Algorithm Execution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Consolas"/>
              </a:defRPr>
            </a:pPr>
            <a:r>
              <a:t>Algorithm: MeetingIntelligencePipeline(InputSource, CurrentUser)</a:t>
            </a:r>
            <a:br/>
            <a:r>
              <a:t>1. IF InputSource is LiveAudio THEN Transcript = WebSpeechTranscribe(InputSource)</a:t>
            </a:r>
            <a:br/>
            <a:r>
              <a:t>   ELSE Transcript = SanitizeAndExtractText(InputSource)</a:t>
            </a:r>
            <a:br/>
            <a:r>
              <a:t>2. CleanText = RemoveNoiseAndFillerWords(Transcript)</a:t>
            </a:r>
            <a:br/>
            <a:r>
              <a:t>3. PromptPayload = BuildStructuredPrompt(Role='Executive PM', Transcript=CleanText, Schema='JSON')</a:t>
            </a:r>
            <a:br/>
            <a:r>
              <a:t>4. AI_Response = InvokeLLM_API(PromptPayload)</a:t>
            </a:r>
            <a:br/>
            <a:r>
              <a:t>5. ParsedData = ValidateAndParseJSON(AI_Response)</a:t>
            </a:r>
            <a:br/>
            <a:r>
              <a:t>6. DB_Transaction_Begin():</a:t>
            </a:r>
            <a:br/>
            <a:r>
              <a:t>     MeetingID = InsertMeeting(user_id=CurrentUser.id, title=ParsedData.title, summary=ParsedData.summary,</a:t>
            </a:r>
            <a:br/>
            <a:r>
              <a:t>                               executive_summary=ParsedData.executive_summary, quality_score=ParsedData.quality_score)</a:t>
            </a:r>
            <a:br/>
            <a:r>
              <a:t>     FOR EACH task IN ParsedData.action_items:</a:t>
            </a:r>
            <a:br/>
            <a:r>
              <a:t>         InsertActionItem(meeting_id=MeetingID, description=task.desc, assignee=task.owner, deadline=task.due)</a:t>
            </a:r>
            <a:br/>
            <a:r>
              <a:t>   DB_Transaction_Commit()</a:t>
            </a:r>
            <a:br/>
            <a:r>
              <a:t>7. Trigger TaskApprovalModal(MeetingID, ActionItems) for Human Verification &amp; Editing</a:t>
            </a:r>
            <a:br/>
            <a:r>
              <a:t>8. Return Structured Meeting Dashboard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MEETINGLENS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Assumptions, Technical Challenges &amp;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b="1">
                <a:solidFill>
                  <a:srgbClr val="38BDF8"/>
                </a:solidFill>
              </a:rPr>
              <a:t>Hardware &amp; Network: </a:t>
            </a:r>
            <a:r>
              <a:rPr>
                <a:solidFill>
                  <a:srgbClr val="F8FAFC"/>
                </a:solidFill>
              </a:rPr>
              <a:t>Users have an active microphone input and internet connectivity for LLM API transactions.
</a:t>
            </a:r>
          </a:p>
          <a:p>
            <a:pPr>
              <a:defRPr sz="1300"/>
            </a:pPr>
            <a:r>
              <a:rPr b="1">
                <a:solidFill>
                  <a:srgbClr val="38BDF8"/>
                </a:solidFill>
              </a:rPr>
              <a:t>Participant Identification: </a:t>
            </a:r>
            <a:r>
              <a:rPr>
                <a:solidFill>
                  <a:srgbClr val="F8FAFC"/>
                </a:solidFill>
              </a:rPr>
              <a:t>Speakers state names during discussion or context clues allow AI attribution.
</a:t>
            </a:r>
          </a:p>
          <a:p>
            <a:pPr>
              <a:defRPr sz="1300"/>
            </a:pPr>
            <a:r>
              <a:rPr b="1">
                <a:solidFill>
                  <a:srgbClr val="38BDF8"/>
                </a:solidFill>
              </a:rPr>
              <a:t>Language Baseline: </a:t>
            </a:r>
            <a:r>
              <a:rPr>
                <a:solidFill>
                  <a:srgbClr val="F8FAFC"/>
                </a:solidFill>
              </a:rPr>
              <a:t>Primary input language is English, with support for standard business terminology.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Challenges &amp; Mitigations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rPr b="1">
                <a:solidFill>
                  <a:srgbClr val="FBBF24"/>
                </a:solidFill>
              </a:rPr>
              <a:t>LLM Hallucinations: </a:t>
            </a:r>
            <a:r>
              <a:rPr>
                <a:solidFill>
                  <a:srgbClr val="F8FAFC"/>
                </a:solidFill>
              </a:rPr>
              <a:t>Mitigated via strict JSON schema enforcement and regex JSON sanitizers.
</a:t>
            </a:r>
          </a:p>
          <a:p>
            <a:pPr>
              <a:defRPr sz="1300"/>
            </a:pPr>
            <a:r>
              <a:rPr b="1">
                <a:solidFill>
                  <a:srgbClr val="FBBF24"/>
                </a:solidFill>
              </a:rPr>
              <a:t>Ambient Noise &amp; Broken Transcripts: </a:t>
            </a:r>
            <a:r>
              <a:rPr>
                <a:solidFill>
                  <a:srgbClr val="F8FAFC"/>
                </a:solidFill>
              </a:rPr>
              <a:t>Mitigated via dual-phase text cleaning before passing to the analysis engine.
</a:t>
            </a:r>
          </a:p>
          <a:p>
            <a:pPr>
              <a:defRPr sz="1300"/>
            </a:pPr>
            <a:r>
              <a:rPr b="1">
                <a:solidFill>
                  <a:srgbClr val="FBBF24"/>
                </a:solidFill>
              </a:rPr>
              <a:t>Ambiguous Deadlines &amp; Owners: </a:t>
            </a:r>
            <a:r>
              <a:rPr>
                <a:solidFill>
                  <a:srgbClr val="F8FAFC"/>
                </a:solidFill>
              </a:rPr>
              <a:t>Mitigated by human-in-the-loop Task Approval Modal before task finalization.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MEETINGLENS •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Future Advancements &amp; Product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Speaker Diarization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Integrate PyAnnote / WhisperX to automatically identify and isolate individual speakers with exact audio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2. PM Tool Integrations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Direct webhook syncing of approved action items to Jira, Asana, Trello, Notion, and Google Calendar.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3. Meeting Bot Integrations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Autonomous meeting bot that joins Zoom, Google Meet, and MS Teams calls to record and analyze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4. Conversational RAG Archive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805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Chat with historical meetings: Ask natural language questions across months of meeting transcripts.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34D399"/>
                </a:solidFill>
              </a:defRPr>
            </a:pPr>
            <a:r>
              <a:t>CONCLUSION &amp; SUMMARY</a:t>
            </a:r>
          </a:p>
          <a:p>
            <a:pPr>
              <a:spcAft>
                <a:spcPts val="1400"/>
              </a:spcAft>
              <a:defRPr sz="3800" b="1">
                <a:solidFill>
                  <a:srgbClr val="F8FAFC"/>
                </a:solidFill>
              </a:defRPr>
            </a:pPr>
            <a:r>
              <a:t>MeetingLens: Execution Without Friction</a:t>
            </a:r>
          </a:p>
          <a:p>
            <a:pPr>
              <a:spcAft>
                <a:spcPts val="2600"/>
              </a:spcAft>
              <a:defRPr sz="1500">
                <a:solidFill>
                  <a:srgbClr val="94A3B8"/>
                </a:solidFill>
              </a:defRPr>
            </a:pPr>
            <a:r>
              <a:t>• Eliminates post-meeting documentation fatigue through automated intelligence.</a:t>
            </a:r>
            <a:br/>
            <a:r>
              <a:t>• Enforces team accountability with human-in-the-loop task approval.</a:t>
            </a:r>
            <a:br/>
            <a:r>
              <a:t>• Provides a single source of truth for organization-wide meeting decisions.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Thank You!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