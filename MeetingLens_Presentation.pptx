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82" d="100"/>
          <a:sy n="82" d="100"/>
        </p:scale>
        <p:origin x="6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12578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6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14.pn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12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0.png"/><Relationship Id="rId5" Type="http://schemas.openxmlformats.org/officeDocument/2006/relationships/image" Target="../media/image11.png"/><Relationship Id="rId15" Type="http://schemas.openxmlformats.org/officeDocument/2006/relationships/image" Target="../media/image4.png"/><Relationship Id="rId10" Type="http://schemas.openxmlformats.org/officeDocument/2006/relationships/image" Target="../media/image20.png"/><Relationship Id="rId4" Type="http://schemas.openxmlformats.org/officeDocument/2006/relationships/image" Target="../media/image15.png"/><Relationship Id="rId9" Type="http://schemas.openxmlformats.org/officeDocument/2006/relationships/image" Target="../media/image13.png"/><Relationship Id="rId1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9.png"/><Relationship Id="rId5" Type="http://schemas.openxmlformats.org/officeDocument/2006/relationships/image" Target="../media/image11.png"/><Relationship Id="rId10" Type="http://schemas.openxmlformats.org/officeDocument/2006/relationships/image" Target="../media/image7.png"/><Relationship Id="rId4" Type="http://schemas.openxmlformats.org/officeDocument/2006/relationships/image" Target="../media/image3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8.png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4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claude/work/assets/swir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37586" y="-1188720"/>
            <a:ext cx="5669280" cy="965764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  •  TASK DELEGATION  •  ANALYTICS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78308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MeetingLens</a:t>
            </a:r>
            <a:endParaRPr lang="en-US" sz="56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88036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MOM, Task Delegation &amp; Analytics System</a:t>
            </a:r>
            <a:endParaRPr lang="en-US" sz="21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34290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live conversation to transcribed minutes, tracked decisions, delegated tasks, and measurable analytics — automatically.</a:t>
            </a:r>
            <a:endParaRPr lang="en-US" sz="135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425196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Neel Contractor  &amp; Harin Bhavsar |   MScIT (AI &amp; Data Science)   |   GLS University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85800" y="5806440"/>
            <a:ext cx="384048" cy="384048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0" name="Image 2" descr="/home/claude/work/assets/icons/code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972" y="5898612"/>
            <a:ext cx="199705" cy="1997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88720" y="5769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PHP, MySQL &amp; Gemini AI</a:t>
            </a:r>
            <a:endParaRPr lang="en-US" sz="1050" dirty="0"/>
          </a:p>
        </p:txBody>
      </p:sp>
      <p:sp>
        <p:nvSpPr>
          <p:cNvPr id="12" name="Shape 7"/>
          <p:cNvSpPr/>
          <p:nvPr/>
        </p:nvSpPr>
        <p:spPr>
          <a:xfrm>
            <a:off x="4251960" y="5806440"/>
            <a:ext cx="384048" cy="384048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3" name="Image 3" descr="/home/claude/work/assets/icons/barchart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4132" y="5898612"/>
            <a:ext cx="199705" cy="19970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754880" y="5769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New: Analytics, OAuth &amp; Live Voice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7818120" y="5806440"/>
            <a:ext cx="384048" cy="384048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6" name="Image 4" descr="/home/claude/work/assets/icons/globe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0292" y="5898612"/>
            <a:ext cx="199705" cy="199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8321040" y="5769864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GLS University, Ahmedabad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— THE CHALLENGE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965960"/>
            <a:ext cx="502920" cy="50292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7" name="Image 1" descr="/home/claude/work/assets/icons/filetext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1" y="2086661"/>
            <a:ext cx="261518" cy="26151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00200" y="194767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minute-taking is slow and error-prone</a:t>
            </a:r>
            <a:endParaRPr lang="en-US" sz="145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26060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must dedicate full attention to typing notes during a meeting, which is tiring and often incomplete.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6172200" y="169164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6446520" y="1965960"/>
            <a:ext cx="502920" cy="50292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2" name="Image 2" descr="/home/claude/work/assets/icons/aler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7221" y="2086661"/>
            <a:ext cx="261518" cy="26151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132320" y="194767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Decisions and action items get lost</a:t>
            </a:r>
            <a:endParaRPr lang="en-US" sz="1450" dirty="0"/>
          </a:p>
        </p:txBody>
      </p:sp>
      <p:sp>
        <p:nvSpPr>
          <p:cNvPr id="14" name="Text 9"/>
          <p:cNvSpPr txBox="1"/>
          <p:nvPr/>
        </p:nvSpPr>
        <p:spPr>
          <a:xfrm>
            <a:off x="6446520" y="26060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structured record, key decisions and to-dos live only in memory or scattered chat messages.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40080" y="397764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7" name="Image 3" descr="/home/claude/work/assets/icons/mail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5101" y="4372661"/>
            <a:ext cx="261518" cy="26151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00200" y="423367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Follow-up is inconsistent</a:t>
            </a:r>
            <a:endParaRPr lang="en-US" sz="1450" dirty="0"/>
          </a:p>
        </p:txBody>
      </p:sp>
      <p:sp>
        <p:nvSpPr>
          <p:cNvPr id="19" name="Text 13"/>
          <p:cNvSpPr txBox="1"/>
          <p:nvPr/>
        </p:nvSpPr>
        <p:spPr>
          <a:xfrm>
            <a:off x="914400" y="48920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Assigning owners, notifying them, and scheduling follow-ups is manual, so tasks slip through the cracks.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172200" y="3977640"/>
            <a:ext cx="5166360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446520" y="4251960"/>
            <a:ext cx="502920" cy="50292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22" name="Image 4" descr="/home/claude/work/assets/icons/database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7221" y="4372661"/>
            <a:ext cx="261518" cy="26151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132320" y="423367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searchable, auditable history</a:t>
            </a:r>
            <a:endParaRPr lang="en-US" sz="1450" dirty="0"/>
          </a:p>
        </p:txBody>
      </p:sp>
      <p:sp>
        <p:nvSpPr>
          <p:cNvPr id="24" name="Text 17"/>
          <p:cNvSpPr txBox="1"/>
          <p:nvPr/>
        </p:nvSpPr>
        <p:spPr>
          <a:xfrm>
            <a:off x="6446520" y="48920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Past meetings aren't stored in a structured, queryable way — tracing back a decision is difficult.</a:t>
            </a:r>
            <a:endParaRPr lang="en-US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640080" y="647395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MeetingLens  —  AI MOM, Task Delegation &amp; Analytics System</a:t>
            </a:r>
            <a:endParaRPr lang="en-US" sz="900" dirty="0"/>
          </a:p>
        </p:txBody>
      </p:sp>
      <p:sp>
        <p:nvSpPr>
          <p:cNvPr id="26" name="Text 19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— THE APPROACH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Proposed Solution &amp; Expected Outcome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SYSTEM DOES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949440" y="1600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EXPECTED OUTCOME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40080" y="20391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8" name="Image 1" descr="/home/claude/work/assets/icons/mic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030" y="2140062"/>
            <a:ext cx="218724" cy="2187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234440" y="196596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Capture the conversation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225856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browser transcription (Web Speech API) or an uploaded transcript.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6949440" y="1947672"/>
            <a:ext cx="4572000" cy="923544"/>
          </a:xfrm>
          <a:prstGeom prst="roundRect">
            <a:avLst>
              <a:gd name="adj" fmla="val 7921"/>
            </a:avLst>
          </a:prstGeom>
          <a:solidFill>
            <a:srgbClr val="12122A">
              <a:alpha val="85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178040" y="1947672"/>
            <a:ext cx="41148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i="1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 minutes generated within seconds of a transcript being available.</a:t>
            </a:r>
            <a:endParaRPr lang="en-US" sz="1080" dirty="0"/>
          </a:p>
        </p:txBody>
      </p:sp>
      <p:sp>
        <p:nvSpPr>
          <p:cNvPr id="13" name="Shape 9"/>
          <p:cNvSpPr/>
          <p:nvPr/>
        </p:nvSpPr>
        <p:spPr>
          <a:xfrm>
            <a:off x="640080" y="309067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4" name="Image 2" descr="/home/claude/work/assets/icons/cpu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1030" y="3191622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234440" y="301752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extracts structure</a:t>
            </a:r>
            <a:endParaRPr lang="en-US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1234440" y="331012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reads the transcript and returns MOM, decisions &amp; action items.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6949440" y="2999232"/>
            <a:ext cx="4572000" cy="923544"/>
          </a:xfrm>
          <a:prstGeom prst="roundRect">
            <a:avLst>
              <a:gd name="adj" fmla="val 7921"/>
            </a:avLst>
          </a:prstGeom>
          <a:solidFill>
            <a:srgbClr val="12122A">
              <a:alpha val="85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7178040" y="2999232"/>
            <a:ext cx="41148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i="1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decisions or action items lost — every one stored with a confidence score.</a:t>
            </a:r>
            <a:endParaRPr lang="en-US" sz="1080" dirty="0"/>
          </a:p>
        </p:txBody>
      </p:sp>
      <p:sp>
        <p:nvSpPr>
          <p:cNvPr id="19" name="Shape 14"/>
          <p:cNvSpPr/>
          <p:nvPr/>
        </p:nvSpPr>
        <p:spPr>
          <a:xfrm>
            <a:off x="640080" y="414223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20" name="Image 3" descr="/home/claude/work/assets/icons/check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030" y="4243182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34440" y="406908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Human-in-the-loop approval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1234440" y="436168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Reviewer approves / edits AI-suggested tasks before anything is finalized.</a:t>
            </a:r>
            <a:endParaRPr lang="en-US" sz="1050" dirty="0"/>
          </a:p>
        </p:txBody>
      </p:sp>
      <p:sp>
        <p:nvSpPr>
          <p:cNvPr id="23" name="Shape 17"/>
          <p:cNvSpPr/>
          <p:nvPr/>
        </p:nvSpPr>
        <p:spPr>
          <a:xfrm>
            <a:off x="6949440" y="4050792"/>
            <a:ext cx="4572000" cy="923544"/>
          </a:xfrm>
          <a:prstGeom prst="roundRect">
            <a:avLst>
              <a:gd name="adj" fmla="val 7921"/>
            </a:avLst>
          </a:prstGeom>
          <a:solidFill>
            <a:srgbClr val="12122A">
              <a:alpha val="85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78040" y="4050792"/>
            <a:ext cx="41148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i="1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approved task auto-delegated by email with a ready calendar invite.</a:t>
            </a:r>
            <a:endParaRPr lang="en-US" sz="1080" dirty="0"/>
          </a:p>
        </p:txBody>
      </p:sp>
      <p:sp>
        <p:nvSpPr>
          <p:cNvPr id="25" name="Shape 19"/>
          <p:cNvSpPr/>
          <p:nvPr/>
        </p:nvSpPr>
        <p:spPr>
          <a:xfrm>
            <a:off x="640080" y="519379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26" name="Image 4" descr="/home/claude/work/assets/icons/send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1030" y="5294742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234440" y="512064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delegation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1234440" y="5413248"/>
            <a:ext cx="5394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tasks are emailed to owners with a MOM PDF and a calendar link.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949440" y="5102352"/>
            <a:ext cx="4572000" cy="923544"/>
          </a:xfrm>
          <a:prstGeom prst="roundRect">
            <a:avLst>
              <a:gd name="adj" fmla="val 7921"/>
            </a:avLst>
          </a:prstGeom>
          <a:solidFill>
            <a:srgbClr val="12122A">
              <a:alpha val="85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7178040" y="5102352"/>
            <a:ext cx="411480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80" i="1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searchable history of meetings, decisions, and task ownership over time.</a:t>
            </a:r>
            <a:endParaRPr lang="en-US" sz="1080" dirty="0"/>
          </a:p>
        </p:txBody>
      </p:sp>
      <p:sp>
        <p:nvSpPr>
          <p:cNvPr id="31" name="Text 24"/>
          <p:cNvSpPr txBox="1"/>
          <p:nvPr/>
        </p:nvSpPr>
        <p:spPr>
          <a:xfrm>
            <a:off x="640080" y="647395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MeetingLens  —  AI MOM, Task Delegation &amp; Analytics System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— CAPABILITIES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Key Platform Capabilities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984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pillars that turn raw conversation into tracked, delegated, measurable work.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2057400"/>
            <a:ext cx="502920" cy="50292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8" name="Image 1" descr="/home/claude/work/assets/icons/barchart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5101" y="2178101"/>
            <a:ext cx="261518" cy="26151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14400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Reports Hub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3154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dashboard for meeting insights, task-completion metrics, and exportable statistics.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462272" y="178308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736592" y="2057400"/>
            <a:ext cx="502920" cy="50292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3" name="Image 2" descr="/home/claude/work/assets/icons/shield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57293" y="2178101"/>
            <a:ext cx="261518" cy="26151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736592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Enhanced Auth &amp; Security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4736592" y="3154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Social Login (OAuth 2.0), OTP-based password reset, and profile customization.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284464" y="178308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558784" y="2057400"/>
            <a:ext cx="502920" cy="50292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8" name="Image 3" descr="/home/claude/work/assets/icons/mic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79485" y="2178101"/>
            <a:ext cx="261518" cy="26151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558784" y="26974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Voice &amp; Live Transcription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8558784" y="315468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Speech API with live browser audio capture and continuous AI processing.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2551176" y="411480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2825496" y="4389120"/>
            <a:ext cx="502920" cy="50292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23" name="Image 4" descr="/home/claude/work/assets/icons/calendar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6197" y="4509821"/>
            <a:ext cx="261518" cy="261518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2825496" y="5029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Email &amp; Calendar Sync</a:t>
            </a:r>
            <a:endParaRPr lang="en-US" sz="1350" dirty="0"/>
          </a:p>
        </p:txBody>
      </p:sp>
      <p:sp>
        <p:nvSpPr>
          <p:cNvPr id="25" name="Text 18"/>
          <p:cNvSpPr txBox="1"/>
          <p:nvPr/>
        </p:nvSpPr>
        <p:spPr>
          <a:xfrm>
            <a:off x="2825496" y="5486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delegation emails with attached MOM PDFs and one-click Google Calendar events.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6373368" y="4114800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647688" y="4389120"/>
            <a:ext cx="502920" cy="50292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28" name="Image 5" descr="/home/claude/work/assets/icons/folder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8389" y="4509821"/>
            <a:ext cx="261518" cy="261518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647688" y="502920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Repository &amp; PDF Generator</a:t>
            </a:r>
            <a:endParaRPr lang="en-US" sz="1350" dirty="0"/>
          </a:p>
        </p:txBody>
      </p:sp>
      <p:sp>
        <p:nvSpPr>
          <p:cNvPr id="30" name="Text 22"/>
          <p:cNvSpPr txBox="1"/>
          <p:nvPr/>
        </p:nvSpPr>
        <p:spPr>
          <a:xfrm>
            <a:off x="6647688" y="54864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TXT / PDF / DOCX uploads plus instant PDF generation for transcripts and summaries.</a:t>
            </a:r>
            <a:endParaRPr lang="en-US" sz="1050" dirty="0"/>
          </a:p>
        </p:txBody>
      </p:sp>
      <p:sp>
        <p:nvSpPr>
          <p:cNvPr id="31" name="Text 23"/>
          <p:cNvSpPr txBox="1"/>
          <p:nvPr/>
        </p:nvSpPr>
        <p:spPr>
          <a:xfrm>
            <a:off x="640080" y="647395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MeetingLens  —  AI MOM, Task Delegation &amp; Analytics System</a:t>
            </a:r>
            <a:endParaRPr lang="en-US" sz="900" dirty="0"/>
          </a:p>
        </p:txBody>
      </p:sp>
      <p:sp>
        <p:nvSpPr>
          <p:cNvPr id="32" name="Text 2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— END-TO-END FLOW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Workflow Diagram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98448"/>
            <a:ext cx="9601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Extended with secure sign-in at the start and analytics at the close of the loop.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700888" y="18745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336396" y="20391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8" name="Image 1" descr="/home/claude/work/assets/icons/shield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7345" y="2140062"/>
            <a:ext cx="218724" cy="21872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4040" y="25328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 In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774040" y="29169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OAuth / OTP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2392528" y="22860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520544" y="18745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156052" y="20391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4" name="Image 2" descr="/home/claude/work/assets/icons/mic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7001" y="2140062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2593696" y="25328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 / Upload</a:t>
            </a:r>
            <a:endParaRPr lang="en-US" sz="1000" dirty="0"/>
          </a:p>
        </p:txBody>
      </p:sp>
      <p:sp>
        <p:nvSpPr>
          <p:cNvPr id="16" name="Text 11"/>
          <p:cNvSpPr txBox="1"/>
          <p:nvPr/>
        </p:nvSpPr>
        <p:spPr>
          <a:xfrm>
            <a:off x="2593696" y="29169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or file</a:t>
            </a:r>
            <a:endParaRPr lang="en-US" sz="850" dirty="0"/>
          </a:p>
        </p:txBody>
      </p:sp>
      <p:sp>
        <p:nvSpPr>
          <p:cNvPr id="17" name="Text 12"/>
          <p:cNvSpPr txBox="1"/>
          <p:nvPr/>
        </p:nvSpPr>
        <p:spPr>
          <a:xfrm>
            <a:off x="4212184" y="22860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4340200" y="18745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4975708" y="20391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20" name="Image 3" descr="/home/claude/work/assets/icons/server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76657" y="2140062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413352" y="25328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Speech-to-Text</a:t>
            </a:r>
            <a:endParaRPr lang="en-US" sz="1000" dirty="0"/>
          </a:p>
        </p:txBody>
      </p:sp>
      <p:sp>
        <p:nvSpPr>
          <p:cNvPr id="22" name="Text 16"/>
          <p:cNvSpPr txBox="1"/>
          <p:nvPr/>
        </p:nvSpPr>
        <p:spPr>
          <a:xfrm>
            <a:off x="4413352" y="29169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Save</a:t>
            </a:r>
            <a:endParaRPr lang="en-US" sz="850" dirty="0"/>
          </a:p>
        </p:txBody>
      </p:sp>
      <p:sp>
        <p:nvSpPr>
          <p:cNvPr id="23" name="Text 17"/>
          <p:cNvSpPr txBox="1"/>
          <p:nvPr/>
        </p:nvSpPr>
        <p:spPr>
          <a:xfrm>
            <a:off x="6031840" y="22860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59856" y="18745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795364" y="20391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26" name="Image 4" descr="/home/claude/work/assets/icons/cpu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6313" y="2140062"/>
            <a:ext cx="218724" cy="218724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233008" y="25328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AI Analysis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6233008" y="29169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 in</a:t>
            </a:r>
            <a:endParaRPr lang="en-US" sz="850" dirty="0"/>
          </a:p>
        </p:txBody>
      </p:sp>
      <p:sp>
        <p:nvSpPr>
          <p:cNvPr id="29" name="Text 22"/>
          <p:cNvSpPr txBox="1"/>
          <p:nvPr/>
        </p:nvSpPr>
        <p:spPr>
          <a:xfrm>
            <a:off x="7851496" y="22860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7979512" y="18745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8615020" y="20391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32" name="Image 5" descr="/home/claude/work/assets/icons/layers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715969" y="2140062"/>
            <a:ext cx="218724" cy="218724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052664" y="25328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Output</a:t>
            </a:r>
            <a:endParaRPr lang="en-US" sz="1000" dirty="0"/>
          </a:p>
        </p:txBody>
      </p:sp>
      <p:sp>
        <p:nvSpPr>
          <p:cNvPr id="34" name="Text 26"/>
          <p:cNvSpPr txBox="1"/>
          <p:nvPr/>
        </p:nvSpPr>
        <p:spPr>
          <a:xfrm>
            <a:off x="8052664" y="29169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 + items</a:t>
            </a:r>
            <a:endParaRPr lang="en-US" sz="850" dirty="0"/>
          </a:p>
        </p:txBody>
      </p:sp>
      <p:sp>
        <p:nvSpPr>
          <p:cNvPr id="35" name="Text 27"/>
          <p:cNvSpPr txBox="1"/>
          <p:nvPr/>
        </p:nvSpPr>
        <p:spPr>
          <a:xfrm>
            <a:off x="9671152" y="22860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9799168" y="18745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10434676" y="20391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38" name="Image 6" descr="/home/claude/work/assets/icons/check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35625" y="2140062"/>
            <a:ext cx="218724" cy="218724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872320" y="25328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9872320" y="29169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 gate</a:t>
            </a:r>
            <a:endParaRPr lang="en-US" sz="850" dirty="0"/>
          </a:p>
        </p:txBody>
      </p:sp>
      <p:sp>
        <p:nvSpPr>
          <p:cNvPr id="41" name="Shape 32"/>
          <p:cNvSpPr/>
          <p:nvPr/>
        </p:nvSpPr>
        <p:spPr>
          <a:xfrm>
            <a:off x="700888" y="37033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42" name="Shape 33"/>
          <p:cNvSpPr/>
          <p:nvPr/>
        </p:nvSpPr>
        <p:spPr>
          <a:xfrm>
            <a:off x="1336396" y="38679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43" name="Image 7" descr="/home/claude/work/assets/icons/edit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437345" y="3968862"/>
            <a:ext cx="218724" cy="21872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774040" y="43616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&amp; Edit</a:t>
            </a:r>
            <a:endParaRPr lang="en-US" sz="1000" dirty="0"/>
          </a:p>
        </p:txBody>
      </p:sp>
      <p:sp>
        <p:nvSpPr>
          <p:cNvPr id="45" name="Text 35"/>
          <p:cNvSpPr txBox="1"/>
          <p:nvPr/>
        </p:nvSpPr>
        <p:spPr>
          <a:xfrm>
            <a:off x="774040" y="47457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tasks</a:t>
            </a:r>
            <a:endParaRPr lang="en-US" sz="850" dirty="0"/>
          </a:p>
        </p:txBody>
      </p:sp>
      <p:sp>
        <p:nvSpPr>
          <p:cNvPr id="46" name="Text 36"/>
          <p:cNvSpPr txBox="1"/>
          <p:nvPr/>
        </p:nvSpPr>
        <p:spPr>
          <a:xfrm>
            <a:off x="2392528" y="41148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47" name="Shape 37"/>
          <p:cNvSpPr/>
          <p:nvPr/>
        </p:nvSpPr>
        <p:spPr>
          <a:xfrm>
            <a:off x="2520544" y="37033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48" name="Shape 38"/>
          <p:cNvSpPr/>
          <p:nvPr/>
        </p:nvSpPr>
        <p:spPr>
          <a:xfrm>
            <a:off x="3156052" y="38679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49" name="Image 8" descr="/home/claude/work/assets/icons/database_d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57001" y="3968862"/>
            <a:ext cx="218724" cy="218724"/>
          </a:xfrm>
          <a:prstGeom prst="rect">
            <a:avLst/>
          </a:prstGeom>
        </p:spPr>
      </p:pic>
      <p:sp>
        <p:nvSpPr>
          <p:cNvPr id="50" name="Text 39"/>
          <p:cNvSpPr txBox="1"/>
          <p:nvPr/>
        </p:nvSpPr>
        <p:spPr>
          <a:xfrm>
            <a:off x="2593696" y="43616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to MySQL</a:t>
            </a:r>
            <a:endParaRPr lang="en-US" sz="1000" dirty="0"/>
          </a:p>
        </p:txBody>
      </p:sp>
      <p:sp>
        <p:nvSpPr>
          <p:cNvPr id="51" name="Text 40"/>
          <p:cNvSpPr txBox="1"/>
          <p:nvPr/>
        </p:nvSpPr>
        <p:spPr>
          <a:xfrm>
            <a:off x="2593696" y="47457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data</a:t>
            </a:r>
            <a:endParaRPr lang="en-US" sz="850" dirty="0"/>
          </a:p>
        </p:txBody>
      </p:sp>
      <p:sp>
        <p:nvSpPr>
          <p:cNvPr id="52" name="Text 41"/>
          <p:cNvSpPr txBox="1"/>
          <p:nvPr/>
        </p:nvSpPr>
        <p:spPr>
          <a:xfrm>
            <a:off x="4212184" y="41148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53" name="Shape 42"/>
          <p:cNvSpPr/>
          <p:nvPr/>
        </p:nvSpPr>
        <p:spPr>
          <a:xfrm>
            <a:off x="4340200" y="37033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54" name="Shape 43"/>
          <p:cNvSpPr/>
          <p:nvPr/>
        </p:nvSpPr>
        <p:spPr>
          <a:xfrm>
            <a:off x="4975708" y="38679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55" name="Image 9" descr="/home/claude/work/assets/icons/filetext_dar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76657" y="3968862"/>
            <a:ext cx="218724" cy="218724"/>
          </a:xfrm>
          <a:prstGeom prst="rect">
            <a:avLst/>
          </a:prstGeom>
        </p:spPr>
      </p:pic>
      <p:sp>
        <p:nvSpPr>
          <p:cNvPr id="56" name="Text 44"/>
          <p:cNvSpPr txBox="1"/>
          <p:nvPr/>
        </p:nvSpPr>
        <p:spPr>
          <a:xfrm>
            <a:off x="4413352" y="43616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PDF</a:t>
            </a:r>
            <a:endParaRPr lang="en-US" sz="1000" dirty="0"/>
          </a:p>
        </p:txBody>
      </p:sp>
      <p:sp>
        <p:nvSpPr>
          <p:cNvPr id="57" name="Text 45"/>
          <p:cNvSpPr txBox="1"/>
          <p:nvPr/>
        </p:nvSpPr>
        <p:spPr>
          <a:xfrm>
            <a:off x="4413352" y="47457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 export</a:t>
            </a:r>
            <a:endParaRPr lang="en-US" sz="850" dirty="0"/>
          </a:p>
        </p:txBody>
      </p:sp>
      <p:sp>
        <p:nvSpPr>
          <p:cNvPr id="58" name="Text 46"/>
          <p:cNvSpPr txBox="1"/>
          <p:nvPr/>
        </p:nvSpPr>
        <p:spPr>
          <a:xfrm>
            <a:off x="6031840" y="41148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59" name="Shape 47"/>
          <p:cNvSpPr/>
          <p:nvPr/>
        </p:nvSpPr>
        <p:spPr>
          <a:xfrm>
            <a:off x="6159856" y="37033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60" name="Shape 48"/>
          <p:cNvSpPr/>
          <p:nvPr/>
        </p:nvSpPr>
        <p:spPr>
          <a:xfrm>
            <a:off x="6795364" y="38679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61" name="Image 10" descr="/home/claude/work/assets/icons/send_dar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96313" y="3968862"/>
            <a:ext cx="218724" cy="218724"/>
          </a:xfrm>
          <a:prstGeom prst="rect">
            <a:avLst/>
          </a:prstGeom>
        </p:spPr>
      </p:pic>
      <p:sp>
        <p:nvSpPr>
          <p:cNvPr id="62" name="Text 49"/>
          <p:cNvSpPr txBox="1"/>
          <p:nvPr/>
        </p:nvSpPr>
        <p:spPr>
          <a:xfrm>
            <a:off x="6233008" y="43616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+ Calendar</a:t>
            </a:r>
            <a:endParaRPr lang="en-US" sz="1000" dirty="0"/>
          </a:p>
        </p:txBody>
      </p:sp>
      <p:sp>
        <p:nvSpPr>
          <p:cNvPr id="63" name="Text 50"/>
          <p:cNvSpPr txBox="1"/>
          <p:nvPr/>
        </p:nvSpPr>
        <p:spPr>
          <a:xfrm>
            <a:off x="6233008" y="47457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 owner</a:t>
            </a:r>
            <a:endParaRPr lang="en-US" sz="850" dirty="0"/>
          </a:p>
        </p:txBody>
      </p:sp>
      <p:sp>
        <p:nvSpPr>
          <p:cNvPr id="64" name="Text 51"/>
          <p:cNvSpPr txBox="1"/>
          <p:nvPr/>
        </p:nvSpPr>
        <p:spPr>
          <a:xfrm>
            <a:off x="7851496" y="41148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65" name="Shape 52"/>
          <p:cNvSpPr/>
          <p:nvPr/>
        </p:nvSpPr>
        <p:spPr>
          <a:xfrm>
            <a:off x="7979512" y="37033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66" name="Shape 53"/>
          <p:cNvSpPr/>
          <p:nvPr/>
        </p:nvSpPr>
        <p:spPr>
          <a:xfrm>
            <a:off x="8615020" y="38679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67" name="Image 11" descr="/home/claude/work/assets/icons/trending_dark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715969" y="3968862"/>
            <a:ext cx="218724" cy="218724"/>
          </a:xfrm>
          <a:prstGeom prst="rect">
            <a:avLst/>
          </a:prstGeom>
        </p:spPr>
      </p:pic>
      <p:sp>
        <p:nvSpPr>
          <p:cNvPr id="68" name="Text 54"/>
          <p:cNvSpPr txBox="1"/>
          <p:nvPr/>
        </p:nvSpPr>
        <p:spPr>
          <a:xfrm>
            <a:off x="8052664" y="43616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Dashboard</a:t>
            </a:r>
            <a:endParaRPr lang="en-US" sz="1000" dirty="0"/>
          </a:p>
        </p:txBody>
      </p:sp>
      <p:sp>
        <p:nvSpPr>
          <p:cNvPr id="69" name="Text 55"/>
          <p:cNvSpPr txBox="1"/>
          <p:nvPr/>
        </p:nvSpPr>
        <p:spPr>
          <a:xfrm>
            <a:off x="8052664" y="47457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status</a:t>
            </a:r>
            <a:endParaRPr lang="en-US" sz="850" dirty="0"/>
          </a:p>
        </p:txBody>
      </p:sp>
      <p:sp>
        <p:nvSpPr>
          <p:cNvPr id="70" name="Text 56"/>
          <p:cNvSpPr txBox="1"/>
          <p:nvPr/>
        </p:nvSpPr>
        <p:spPr>
          <a:xfrm>
            <a:off x="9671152" y="4114800"/>
            <a:ext cx="1463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71" name="Shape 57"/>
          <p:cNvSpPr/>
          <p:nvPr/>
        </p:nvSpPr>
        <p:spPr>
          <a:xfrm>
            <a:off x="9799168" y="3703320"/>
            <a:ext cx="1691640" cy="1417320"/>
          </a:xfrm>
          <a:prstGeom prst="roundRect">
            <a:avLst>
              <a:gd name="adj" fmla="val 5161"/>
            </a:avLst>
          </a:prstGeom>
          <a:solidFill>
            <a:srgbClr val="12122A">
              <a:alpha val="90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2" name="Shape 58"/>
          <p:cNvSpPr/>
          <p:nvPr/>
        </p:nvSpPr>
        <p:spPr>
          <a:xfrm>
            <a:off x="10434676" y="3867912"/>
            <a:ext cx="420624" cy="420624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73" name="Image 12" descr="/home/claude/work/assets/icons/barchart_dark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35625" y="3968862"/>
            <a:ext cx="218724" cy="218724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9872320" y="436168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Reports</a:t>
            </a:r>
            <a:endParaRPr lang="en-US" sz="1000" dirty="0"/>
          </a:p>
        </p:txBody>
      </p:sp>
      <p:sp>
        <p:nvSpPr>
          <p:cNvPr id="75" name="Text 60"/>
          <p:cNvSpPr txBox="1"/>
          <p:nvPr/>
        </p:nvSpPr>
        <p:spPr>
          <a:xfrm>
            <a:off x="9872320" y="4745736"/>
            <a:ext cx="15453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Closes the loop</a:t>
            </a:r>
            <a:endParaRPr lang="en-US" sz="850" dirty="0"/>
          </a:p>
        </p:txBody>
      </p:sp>
      <p:sp>
        <p:nvSpPr>
          <p:cNvPr id="76" name="Shape 61"/>
          <p:cNvSpPr/>
          <p:nvPr/>
        </p:nvSpPr>
        <p:spPr>
          <a:xfrm>
            <a:off x="640080" y="5440680"/>
            <a:ext cx="10908792" cy="685800"/>
          </a:xfrm>
          <a:prstGeom prst="roundRect">
            <a:avLst>
              <a:gd name="adj" fmla="val 10667"/>
            </a:avLst>
          </a:prstGeom>
          <a:solidFill>
            <a:srgbClr val="1E1E3C">
              <a:alpha val="95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7" name="Text 62"/>
          <p:cNvSpPr txBox="1"/>
          <p:nvPr/>
        </p:nvSpPr>
        <p:spPr>
          <a:xfrm>
            <a:off x="914400" y="544068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approval gate before anything is finalized or delivered — and every step now feeds the Analytics dashboard.</a:t>
            </a:r>
            <a:endParaRPr lang="en-US" sz="1150" dirty="0"/>
          </a:p>
        </p:txBody>
      </p:sp>
      <p:sp>
        <p:nvSpPr>
          <p:cNvPr id="78" name="Text 63"/>
          <p:cNvSpPr txBox="1"/>
          <p:nvPr/>
        </p:nvSpPr>
        <p:spPr>
          <a:xfrm>
            <a:off x="640080" y="647395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MeetingLens  —  AI MOM, Task Delegation &amp; Analytics System</a:t>
            </a:r>
            <a:endParaRPr lang="en-US" sz="900" dirty="0"/>
          </a:p>
        </p:txBody>
      </p:sp>
      <p:sp>
        <p:nvSpPr>
          <p:cNvPr id="79" name="Text 64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— TECH STACK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Technologies &amp; Tools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4592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435608" y="187452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7" name="Image 1" descr="/home/claude/work/assets/icons/code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45336" y="198424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49808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React.js + Vite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749808" y="294436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SPA &amp; fast dev tooling</a:t>
            </a:r>
            <a:endParaRPr lang="en-US" sz="870" dirty="0"/>
          </a:p>
        </p:txBody>
      </p:sp>
      <p:sp>
        <p:nvSpPr>
          <p:cNvPr id="10" name="Shape 6"/>
          <p:cNvSpPr/>
          <p:nvPr/>
        </p:nvSpPr>
        <p:spPr>
          <a:xfrm>
            <a:off x="2871216" y="164592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666744" y="187452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2" name="Image 2" descr="/home/claude/work/assets/icons/mic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76472" y="198424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980944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Speech API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2980944" y="294436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In-browser live transcription</a:t>
            </a:r>
            <a:endParaRPr lang="en-US" sz="870" dirty="0"/>
          </a:p>
        </p:txBody>
      </p:sp>
      <p:sp>
        <p:nvSpPr>
          <p:cNvPr id="15" name="Shape 10"/>
          <p:cNvSpPr/>
          <p:nvPr/>
        </p:nvSpPr>
        <p:spPr>
          <a:xfrm>
            <a:off x="5102352" y="164592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5897880" y="187452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7" name="Image 3" descr="/home/claude/work/assets/icons/server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7608" y="198424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212080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PHP REST API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5212080" y="294436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business logic</a:t>
            </a:r>
            <a:endParaRPr lang="en-US" sz="870" dirty="0"/>
          </a:p>
        </p:txBody>
      </p:sp>
      <p:sp>
        <p:nvSpPr>
          <p:cNvPr id="20" name="Shape 14"/>
          <p:cNvSpPr/>
          <p:nvPr/>
        </p:nvSpPr>
        <p:spPr>
          <a:xfrm>
            <a:off x="7333488" y="164592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129016" y="187452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22" name="Image 4" descr="/home/claude/work/assets/icons/database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8744" y="1984248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443216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MySQL 8.0</a:t>
            </a:r>
            <a:endParaRPr lang="en-US" sz="1100" dirty="0"/>
          </a:p>
        </p:txBody>
      </p:sp>
      <p:sp>
        <p:nvSpPr>
          <p:cNvPr id="24" name="Text 17"/>
          <p:cNvSpPr txBox="1"/>
          <p:nvPr/>
        </p:nvSpPr>
        <p:spPr>
          <a:xfrm>
            <a:off x="7443216" y="294436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Users, meetings, tasks, decisions</a:t>
            </a:r>
            <a:endParaRPr lang="en-US" sz="870" dirty="0"/>
          </a:p>
        </p:txBody>
      </p:sp>
      <p:sp>
        <p:nvSpPr>
          <p:cNvPr id="25" name="Shape 18"/>
          <p:cNvSpPr/>
          <p:nvPr/>
        </p:nvSpPr>
        <p:spPr>
          <a:xfrm>
            <a:off x="9564624" y="164592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10360152" y="187452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27" name="Image 5" descr="/home/claude/work/assets/icons/shield_dar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0" y="1984248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674352" y="25146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OAuth 2.0 + OTP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9674352" y="294436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login &amp; password reset</a:t>
            </a:r>
            <a:endParaRPr lang="en-US" sz="870" dirty="0"/>
          </a:p>
        </p:txBody>
      </p:sp>
      <p:sp>
        <p:nvSpPr>
          <p:cNvPr id="30" name="Shape 22"/>
          <p:cNvSpPr/>
          <p:nvPr/>
        </p:nvSpPr>
        <p:spPr>
          <a:xfrm>
            <a:off x="640080" y="384048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1" name="Shape 23"/>
          <p:cNvSpPr/>
          <p:nvPr/>
        </p:nvSpPr>
        <p:spPr>
          <a:xfrm>
            <a:off x="1435608" y="406908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32" name="Image 6" descr="/home/claude/work/assets/icons/cpu_d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45336" y="417880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749808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AI</a:t>
            </a:r>
            <a:endParaRPr lang="en-US" sz="1100" dirty="0"/>
          </a:p>
        </p:txBody>
      </p:sp>
      <p:sp>
        <p:nvSpPr>
          <p:cNvPr id="34" name="Text 25"/>
          <p:cNvSpPr txBox="1"/>
          <p:nvPr/>
        </p:nvSpPr>
        <p:spPr>
          <a:xfrm>
            <a:off x="749808" y="51389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MOM &amp; action-item extraction</a:t>
            </a:r>
            <a:endParaRPr lang="en-US" sz="870" dirty="0"/>
          </a:p>
        </p:txBody>
      </p:sp>
      <p:sp>
        <p:nvSpPr>
          <p:cNvPr id="35" name="Shape 26"/>
          <p:cNvSpPr/>
          <p:nvPr/>
        </p:nvSpPr>
        <p:spPr>
          <a:xfrm>
            <a:off x="2871216" y="384048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36" name="Shape 27"/>
          <p:cNvSpPr/>
          <p:nvPr/>
        </p:nvSpPr>
        <p:spPr>
          <a:xfrm>
            <a:off x="3666744" y="406908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37" name="Image 7" descr="/home/claude/work/assets/icons/filetext_d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76472" y="4178808"/>
            <a:ext cx="237744" cy="237744"/>
          </a:xfrm>
          <a:prstGeom prst="rect">
            <a:avLst/>
          </a:prstGeom>
        </p:spPr>
      </p:pic>
      <p:sp>
        <p:nvSpPr>
          <p:cNvPr id="38" name="Text 28"/>
          <p:cNvSpPr txBox="1"/>
          <p:nvPr/>
        </p:nvSpPr>
        <p:spPr>
          <a:xfrm>
            <a:off x="2980944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PDF Generation</a:t>
            </a:r>
            <a:endParaRPr lang="en-US" sz="1100" dirty="0"/>
          </a:p>
        </p:txBody>
      </p:sp>
      <p:sp>
        <p:nvSpPr>
          <p:cNvPr id="39" name="Text 29"/>
          <p:cNvSpPr txBox="1"/>
          <p:nvPr/>
        </p:nvSpPr>
        <p:spPr>
          <a:xfrm>
            <a:off x="2980944" y="51389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Downloadable meeting minutes</a:t>
            </a:r>
            <a:endParaRPr lang="en-US" sz="870" dirty="0"/>
          </a:p>
        </p:txBody>
      </p:sp>
      <p:sp>
        <p:nvSpPr>
          <p:cNvPr id="40" name="Shape 30"/>
          <p:cNvSpPr/>
          <p:nvPr/>
        </p:nvSpPr>
        <p:spPr>
          <a:xfrm>
            <a:off x="5102352" y="384048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41" name="Shape 31"/>
          <p:cNvSpPr/>
          <p:nvPr/>
        </p:nvSpPr>
        <p:spPr>
          <a:xfrm>
            <a:off x="5897880" y="406908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42" name="Image 8" descr="/home/claude/work/assets/icons/mail_d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07608" y="4178808"/>
            <a:ext cx="237744" cy="237744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5212080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Dispatch (PHPMailer)</a:t>
            </a:r>
            <a:endParaRPr lang="en-US" sz="1100" dirty="0"/>
          </a:p>
        </p:txBody>
      </p:sp>
      <p:sp>
        <p:nvSpPr>
          <p:cNvPr id="44" name="Text 33"/>
          <p:cNvSpPr txBox="1"/>
          <p:nvPr/>
        </p:nvSpPr>
        <p:spPr>
          <a:xfrm>
            <a:off x="5212080" y="51389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 delegation notifications</a:t>
            </a:r>
            <a:endParaRPr lang="en-US" sz="870" dirty="0"/>
          </a:p>
        </p:txBody>
      </p:sp>
      <p:sp>
        <p:nvSpPr>
          <p:cNvPr id="45" name="Shape 34"/>
          <p:cNvSpPr/>
          <p:nvPr/>
        </p:nvSpPr>
        <p:spPr>
          <a:xfrm>
            <a:off x="7333488" y="384048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46" name="Shape 35"/>
          <p:cNvSpPr/>
          <p:nvPr/>
        </p:nvSpPr>
        <p:spPr>
          <a:xfrm>
            <a:off x="8129016" y="406908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47" name="Image 9" descr="/home/claude/work/assets/icons/calendar_dark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38744" y="4178808"/>
            <a:ext cx="237744" cy="237744"/>
          </a:xfrm>
          <a:prstGeom prst="rect">
            <a:avLst/>
          </a:prstGeom>
        </p:spPr>
      </p:pic>
      <p:sp>
        <p:nvSpPr>
          <p:cNvPr id="48" name="Text 36"/>
          <p:cNvSpPr txBox="1"/>
          <p:nvPr/>
        </p:nvSpPr>
        <p:spPr>
          <a:xfrm>
            <a:off x="7443216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Calendar Link</a:t>
            </a:r>
            <a:endParaRPr lang="en-US" sz="1100" dirty="0"/>
          </a:p>
        </p:txBody>
      </p:sp>
      <p:sp>
        <p:nvSpPr>
          <p:cNvPr id="49" name="Text 37"/>
          <p:cNvSpPr txBox="1"/>
          <p:nvPr/>
        </p:nvSpPr>
        <p:spPr>
          <a:xfrm>
            <a:off x="7443216" y="51389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One-click follow-up scheduling</a:t>
            </a:r>
            <a:endParaRPr lang="en-US" sz="870" dirty="0"/>
          </a:p>
        </p:txBody>
      </p:sp>
      <p:sp>
        <p:nvSpPr>
          <p:cNvPr id="50" name="Shape 38"/>
          <p:cNvSpPr/>
          <p:nvPr/>
        </p:nvSpPr>
        <p:spPr>
          <a:xfrm>
            <a:off x="9564624" y="3840480"/>
            <a:ext cx="2048256" cy="1965960"/>
          </a:xfrm>
          <a:prstGeom prst="roundRect">
            <a:avLst>
              <a:gd name="adj" fmla="val 372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51" name="Shape 39"/>
          <p:cNvSpPr/>
          <p:nvPr/>
        </p:nvSpPr>
        <p:spPr>
          <a:xfrm>
            <a:off x="10360152" y="406908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52" name="Image 10" descr="/home/claude/work/assets/icons/barchart_dark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469880" y="4178808"/>
            <a:ext cx="237744" cy="237744"/>
          </a:xfrm>
          <a:prstGeom prst="rect">
            <a:avLst/>
          </a:prstGeom>
        </p:spPr>
      </p:pic>
      <p:sp>
        <p:nvSpPr>
          <p:cNvPr id="53" name="Text 40"/>
          <p:cNvSpPr txBox="1"/>
          <p:nvPr/>
        </p:nvSpPr>
        <p:spPr>
          <a:xfrm>
            <a:off x="9674352" y="4709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Engine</a:t>
            </a:r>
            <a:endParaRPr lang="en-US" sz="1100" dirty="0"/>
          </a:p>
        </p:txBody>
      </p:sp>
      <p:sp>
        <p:nvSpPr>
          <p:cNvPr id="54" name="Text 41"/>
          <p:cNvSpPr txBox="1"/>
          <p:nvPr/>
        </p:nvSpPr>
        <p:spPr>
          <a:xfrm>
            <a:off x="9674352" y="5138928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87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&amp; dashboards for the team</a:t>
            </a:r>
            <a:endParaRPr lang="en-US" sz="870" dirty="0"/>
          </a:p>
        </p:txBody>
      </p:sp>
      <p:sp>
        <p:nvSpPr>
          <p:cNvPr id="55" name="Text 42"/>
          <p:cNvSpPr txBox="1"/>
          <p:nvPr/>
        </p:nvSpPr>
        <p:spPr>
          <a:xfrm>
            <a:off x="640080" y="647395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MeetingLens  —  AI MOM, Task Delegation &amp; Analytics System</a:t>
            </a:r>
            <a:endParaRPr lang="en-US" sz="900" dirty="0"/>
          </a:p>
        </p:txBody>
      </p:sp>
      <p:sp>
        <p:nvSpPr>
          <p:cNvPr id="56" name="Text 43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— APPLICATION STRUCTURE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Frontend Pages &amp; Architecture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298448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React views grouped by role in the workflow.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14400" y="205740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8" name="Image 1" descr="/home/claude/work/assets/icons/shield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167128"/>
            <a:ext cx="237744" cy="23774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508760" y="20574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&amp; Onboarding</a:t>
            </a:r>
            <a:endParaRPr lang="en-US" sz="1350" dirty="0"/>
          </a:p>
        </p:txBody>
      </p:sp>
      <p:sp>
        <p:nvSpPr>
          <p:cNvPr id="10" name="Text 6"/>
          <p:cNvSpPr txBox="1"/>
          <p:nvPr/>
        </p:nvSpPr>
        <p:spPr>
          <a:xfrm>
            <a:off x="914400" y="2697480"/>
            <a:ext cx="301752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LandingPage — hero &amp; feature showcase</a:t>
            </a:r>
            <a:endParaRPr lang="en-US" sz="103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— login, register, Google OAuth</a:t>
            </a:r>
            <a:endParaRPr lang="en-US" sz="103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ForgotPassword — OTP-based reset</a:t>
            </a:r>
            <a:endParaRPr lang="en-US" sz="1030" dirty="0"/>
          </a:p>
        </p:txBody>
      </p:sp>
      <p:sp>
        <p:nvSpPr>
          <p:cNvPr id="11" name="Shape 7"/>
          <p:cNvSpPr/>
          <p:nvPr/>
        </p:nvSpPr>
        <p:spPr>
          <a:xfrm>
            <a:off x="4462272" y="178308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736592" y="205740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3" name="Image 2" descr="/home/claude/work/assets/icons/mic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2167128"/>
            <a:ext cx="237744" cy="23774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0952" y="20574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Workflow</a:t>
            </a:r>
            <a:endParaRPr lang="en-US" sz="1350" dirty="0"/>
          </a:p>
        </p:txBody>
      </p:sp>
      <p:sp>
        <p:nvSpPr>
          <p:cNvPr id="15" name="Text 10"/>
          <p:cNvSpPr txBox="1"/>
          <p:nvPr/>
        </p:nvSpPr>
        <p:spPr>
          <a:xfrm>
            <a:off x="4736592" y="2697480"/>
            <a:ext cx="301752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— recent meetings &amp; stats</a:t>
            </a:r>
            <a:endParaRPr lang="en-US" sz="103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NewMeeting — upload transcript</a:t>
            </a:r>
            <a:endParaRPr lang="en-US" sz="103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VoiceMeeting — live recording</a:t>
            </a:r>
            <a:endParaRPr lang="en-US" sz="103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MeetingDetails — MOM, chat, tasks</a:t>
            </a:r>
            <a:endParaRPr lang="en-US" sz="103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TaskApproval — review AI tasks</a:t>
            </a:r>
            <a:endParaRPr lang="en-US" sz="103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— assigned &amp; delegated</a:t>
            </a:r>
            <a:endParaRPr lang="en-US" sz="1030" dirty="0"/>
          </a:p>
        </p:txBody>
      </p:sp>
      <p:sp>
        <p:nvSpPr>
          <p:cNvPr id="16" name="Shape 11"/>
          <p:cNvSpPr/>
          <p:nvPr/>
        </p:nvSpPr>
        <p:spPr>
          <a:xfrm>
            <a:off x="8284464" y="1783080"/>
            <a:ext cx="3566160" cy="4114800"/>
          </a:xfrm>
          <a:prstGeom prst="roundRect">
            <a:avLst>
              <a:gd name="adj" fmla="val 205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558784" y="205740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8" name="Image 3" descr="/home/claude/work/assets/icons/barchart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2167128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153144" y="20574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Insights &amp; Management</a:t>
            </a:r>
            <a:endParaRPr lang="en-US" sz="1350" dirty="0"/>
          </a:p>
        </p:txBody>
      </p:sp>
      <p:sp>
        <p:nvSpPr>
          <p:cNvPr id="20" name="Text 14"/>
          <p:cNvSpPr txBox="1"/>
          <p:nvPr/>
        </p:nvSpPr>
        <p:spPr>
          <a:xfrm>
            <a:off x="8558784" y="2697480"/>
            <a:ext cx="301752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 — analytics &amp; trends</a:t>
            </a:r>
            <a:endParaRPr lang="en-US" sz="103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Documents — MOM PDF archive</a:t>
            </a:r>
            <a:endParaRPr lang="en-US" sz="1030" dirty="0"/>
          </a:p>
          <a:p>
            <a:pPr marL="342900" indent="-342900">
              <a:lnSpc>
                <a:spcPct val="135000"/>
              </a:lnSpc>
              <a:spcAft>
                <a:spcPts val="600"/>
              </a:spcAft>
              <a:buSzPct val="100000"/>
              <a:buChar char="–"/>
            </a:pPr>
            <a:r>
              <a:rPr lang="en-US" sz="103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 — profile &amp; preferences</a:t>
            </a:r>
            <a:endParaRPr lang="en-US" sz="1030" dirty="0"/>
          </a:p>
        </p:txBody>
      </p:sp>
      <p:sp>
        <p:nvSpPr>
          <p:cNvPr id="21" name="Text 15"/>
          <p:cNvSpPr txBox="1"/>
          <p:nvPr/>
        </p:nvSpPr>
        <p:spPr>
          <a:xfrm>
            <a:off x="640080" y="647395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MeetingLens  —  AI MOM, Task Delegation &amp; Analytics System</a:t>
            </a:r>
            <a:endParaRPr lang="en-US" sz="900" dirty="0"/>
          </a:p>
        </p:txBody>
      </p:sp>
      <p:sp>
        <p:nvSpPr>
          <p:cNvPr id="22" name="Text 16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— ALGORITHM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Pseudocode of the Proposed Approach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5257800" cy="4480560"/>
          </a:xfrm>
          <a:prstGeom prst="roundRect">
            <a:avLst>
              <a:gd name="adj" fmla="val 1633"/>
            </a:avLst>
          </a:prstGeom>
          <a:solidFill>
            <a:srgbClr val="12122A">
              <a:alpha val="88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263640" y="1691640"/>
            <a:ext cx="5257800" cy="4480560"/>
          </a:xfrm>
          <a:prstGeom prst="roundRect">
            <a:avLst>
              <a:gd name="adj" fmla="val 1633"/>
            </a:avLst>
          </a:prstGeom>
          <a:solidFill>
            <a:srgbClr val="12122A">
              <a:alpha val="88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87452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240280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the app; check login/session (incl. Google OAuth) and route to Landing or Auth page.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user choose a meeting mode: Live Voice or Upload.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Voice: capture audio via the Web Speech API and build a transcript.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Upload: extract the transcript from the uploaded TXT / PDF / DOCX file.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the transcript to the backend and call the Gemini AI API (cURL) with a valid key.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Parse the JSON response and return the MOM, decisions &amp; action items to the frontend.</a:t>
            </a:r>
            <a:endParaRPr lang="en-US" sz="1080" dirty="0"/>
          </a:p>
        </p:txBody>
      </p:sp>
      <p:sp>
        <p:nvSpPr>
          <p:cNvPr id="9" name="Text 6"/>
          <p:cNvSpPr txBox="1"/>
          <p:nvPr/>
        </p:nvSpPr>
        <p:spPr>
          <a:xfrm>
            <a:off x="6537960" y="1874520"/>
            <a:ext cx="4709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CONTINUED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537960" y="2240280"/>
            <a:ext cx="4709160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Display results on the Meeting Details screen for human review and edits.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Save approved action items to the MySQL database.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user approve and delegate the finalized tasks.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 the MOM PDF with a calendar link and email it to the assignee (PHPMailer).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the Dashboard with the meeting summary and task list.</a:t>
            </a:r>
            <a:endParaRPr lang="en-US" sz="1080" dirty="0"/>
          </a:p>
          <a:p>
            <a:pPr marL="342900" indent="-342900">
              <a:lnSpc>
                <a:spcPct val="130000"/>
              </a:lnSpc>
              <a:spcAft>
                <a:spcPts val="800"/>
              </a:spcAft>
              <a:buSzPct val="100000"/>
              <a:buChar char="–"/>
            </a:pPr>
            <a:r>
              <a:rPr lang="en-US" sz="10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Refresh the Analytics &amp; Reports Hub with the new meeting's metrics.</a:t>
            </a:r>
            <a:endParaRPr lang="en-US" sz="1080" dirty="0"/>
          </a:p>
          <a:p>
            <a:pPr marL="0" indent="0">
              <a:lnSpc>
                <a:spcPct val="130000"/>
              </a:lnSpc>
              <a:spcAft>
                <a:spcPts val="800"/>
              </a:spcAft>
              <a:buNone/>
            </a:pPr>
            <a:r>
              <a:rPr lang="en-US" sz="1080" b="1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</a:t>
            </a:r>
            <a:endParaRPr lang="en-US" sz="108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647395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MeetingLens  —  AI MOM, Task Delegation &amp; Analytics System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— OPEN POINTS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658368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Assumptions, Challenges &amp; Queries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6916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14400" y="196596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7" name="Image 1" descr="/home/claude/work/assets/icons/bulb_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128" y="2075688"/>
            <a:ext cx="237744" cy="237744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08760" y="1965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</a:t>
            </a:r>
            <a:endParaRPr lang="en-US" sz="135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2606040"/>
            <a:ext cx="3017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access the app on a Chromium-based browser supporting the Web Speech API</a:t>
            </a:r>
            <a:endParaRPr lang="en-US" sz="98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Meetings are conducted primarily in English</a:t>
            </a:r>
            <a:endParaRPr lang="en-US" sz="98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Assignees have a valid email and Google account for Calendar &amp; OAuth</a:t>
            </a:r>
            <a:endParaRPr lang="en-US" sz="98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Gemini API stays available within expected rate limits</a:t>
            </a:r>
            <a:endParaRPr lang="en-US" sz="980" dirty="0"/>
          </a:p>
        </p:txBody>
      </p:sp>
      <p:sp>
        <p:nvSpPr>
          <p:cNvPr id="10" name="Shape 6"/>
          <p:cNvSpPr/>
          <p:nvPr/>
        </p:nvSpPr>
        <p:spPr>
          <a:xfrm>
            <a:off x="4462272" y="16916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736592" y="196596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2" name="Image 2" descr="/home/claude/work/assets/icons/aler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2075688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30952" y="1965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Challenges</a:t>
            </a:r>
            <a:endParaRPr lang="en-US" sz="1350" dirty="0"/>
          </a:p>
        </p:txBody>
      </p:sp>
      <p:sp>
        <p:nvSpPr>
          <p:cNvPr id="14" name="Text 9"/>
          <p:cNvSpPr txBox="1"/>
          <p:nvPr/>
        </p:nvSpPr>
        <p:spPr>
          <a:xfrm>
            <a:off x="4736592" y="2606040"/>
            <a:ext cx="3017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Speech recognition accuracy drops with accents, overlapping speakers, or noise</a:t>
            </a:r>
            <a:endParaRPr lang="en-US" sz="98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transcripts may approach Gemini's context/token limits</a:t>
            </a:r>
            <a:endParaRPr lang="en-US" sz="98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AI-extracted action items need reliable confidence scoring, not just guesses</a:t>
            </a:r>
            <a:endParaRPr lang="en-US" sz="98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OTP email deliverability and OAuth consent friction at scale</a:t>
            </a:r>
            <a:endParaRPr lang="en-US" sz="980" dirty="0"/>
          </a:p>
        </p:txBody>
      </p:sp>
      <p:sp>
        <p:nvSpPr>
          <p:cNvPr id="15" name="Shape 10"/>
          <p:cNvSpPr/>
          <p:nvPr/>
        </p:nvSpPr>
        <p:spPr>
          <a:xfrm>
            <a:off x="8284464" y="1691640"/>
            <a:ext cx="3566160" cy="4206240"/>
          </a:xfrm>
          <a:prstGeom prst="roundRect">
            <a:avLst>
              <a:gd name="adj" fmla="val 2051"/>
            </a:avLst>
          </a:prstGeom>
          <a:solidFill>
            <a:srgbClr val="16162E">
              <a:alpha val="92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8558784" y="196596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7" name="Image 3" descr="/home/claude/work/assets/icons/help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68512" y="2075688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53144" y="19659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Queries</a:t>
            </a:r>
            <a:endParaRPr lang="en-US" sz="1350" dirty="0"/>
          </a:p>
        </p:txBody>
      </p:sp>
      <p:sp>
        <p:nvSpPr>
          <p:cNvPr id="19" name="Text 13"/>
          <p:cNvSpPr txBox="1"/>
          <p:nvPr/>
        </p:nvSpPr>
        <p:spPr>
          <a:xfrm>
            <a:off x="8558784" y="2606040"/>
            <a:ext cx="301752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the system support languages beyond English?</a:t>
            </a:r>
            <a:endParaRPr lang="en-US" sz="98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the fallback when the Gemini API fails or confidence is low?</a:t>
            </a:r>
            <a:endParaRPr lang="en-US" sz="98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reviewers hand-edit MOM text, not just approve tasks?</a:t>
            </a:r>
            <a:endParaRPr lang="en-US" sz="980" dirty="0"/>
          </a:p>
          <a:p>
            <a:pPr marL="342900" indent="-342900">
              <a:lnSpc>
                <a:spcPct val="125000"/>
              </a:lnSpc>
              <a:spcAft>
                <a:spcPts val="700"/>
              </a:spcAft>
              <a:buSzPct val="100000"/>
              <a:buChar char="–"/>
            </a:pPr>
            <a:r>
              <a:rPr lang="en-US" sz="98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far back should Analytics trends be computed for new accounts?</a:t>
            </a:r>
            <a:endParaRPr lang="en-US" sz="980" dirty="0"/>
          </a:p>
        </p:txBody>
      </p:sp>
      <p:sp>
        <p:nvSpPr>
          <p:cNvPr id="20" name="Text 14"/>
          <p:cNvSpPr txBox="1"/>
          <p:nvPr/>
        </p:nvSpPr>
        <p:spPr>
          <a:xfrm>
            <a:off x="640080" y="6473952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MeetingLens  —  AI MOM, Task Delegation &amp; Analytics System</a:t>
            </a:r>
            <a:endParaRPr lang="en-US" sz="900" dirty="0"/>
          </a:p>
        </p:txBody>
      </p:sp>
      <p:sp>
        <p:nvSpPr>
          <p:cNvPr id="21" name="Text 15"/>
          <p:cNvSpPr txBox="1"/>
          <p:nvPr/>
        </p:nvSpPr>
        <p:spPr>
          <a:xfrm>
            <a:off x="11521440" y="6473952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claude/work/assets/swir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6895" y="-914400"/>
            <a:ext cx="5120640" cy="8723031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85800" y="1417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</a:t>
            </a:r>
            <a:endParaRPr lang="en-US" sz="1300" dirty="0"/>
          </a:p>
        </p:txBody>
      </p:sp>
      <p:sp>
        <p:nvSpPr>
          <p:cNvPr id="5" name="Text 1"/>
          <p:cNvSpPr txBox="1"/>
          <p:nvPr/>
        </p:nvSpPr>
        <p:spPr>
          <a:xfrm>
            <a:off x="640080" y="1783080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See MeetingLens in Action</a:t>
            </a:r>
            <a:endParaRPr lang="en-US" sz="38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5146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 the live product, browse the source, or dig into the docs.</a:t>
            </a:r>
            <a:endParaRPr lang="en-US" sz="1500" dirty="0"/>
          </a:p>
        </p:txBody>
      </p:sp>
      <p:sp>
        <p:nvSpPr>
          <p:cNvPr id="7" name="Shape 3"/>
          <p:cNvSpPr/>
          <p:nvPr/>
        </p:nvSpPr>
        <p:spPr>
          <a:xfrm>
            <a:off x="640080" y="3246120"/>
            <a:ext cx="6949440" cy="777240"/>
          </a:xfrm>
          <a:prstGeom prst="roundRect">
            <a:avLst>
              <a:gd name="adj" fmla="val 9412"/>
            </a:avLst>
          </a:prstGeom>
          <a:solidFill>
            <a:srgbClr val="12122A">
              <a:alpha val="88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914400" y="3406140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9" name="Image 2" descr="/home/claude/work/assets/icons/arrowright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" y="3515868"/>
            <a:ext cx="237744" cy="237744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554480" y="3337560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 It Here — Live Demo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554480" y="3648456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https://drive.google.com/drive/folders/1wBP0v-pzmBOgUdyrPiJ8Yr8vwhN4W-9u?usp=drive_link</a:t>
            </a:r>
          </a:p>
        </p:txBody>
      </p:sp>
      <p:sp>
        <p:nvSpPr>
          <p:cNvPr id="12" name="Shape 7"/>
          <p:cNvSpPr/>
          <p:nvPr/>
        </p:nvSpPr>
        <p:spPr>
          <a:xfrm>
            <a:off x="640080" y="4224528"/>
            <a:ext cx="6949440" cy="777240"/>
          </a:xfrm>
          <a:prstGeom prst="roundRect">
            <a:avLst>
              <a:gd name="adj" fmla="val 9412"/>
            </a:avLst>
          </a:prstGeom>
          <a:solidFill>
            <a:srgbClr val="12122A">
              <a:alpha val="88000"/>
            </a:srgbClr>
          </a:solidFill>
          <a:ln w="12700">
            <a:solidFill>
              <a:srgbClr val="3A3A5C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914400" y="4384548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4" name="Image 3" descr="/home/claude/work/assets/icons/code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4128" y="4494276"/>
            <a:ext cx="237744" cy="23774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554480" y="4315968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Repository</a:t>
            </a:r>
            <a:endParaRPr lang="en-US" sz="1300" dirty="0"/>
          </a:p>
        </p:txBody>
      </p:sp>
      <p:sp>
        <p:nvSpPr>
          <p:cNvPr id="16" name="Text 10"/>
          <p:cNvSpPr txBox="1"/>
          <p:nvPr/>
        </p:nvSpPr>
        <p:spPr>
          <a:xfrm>
            <a:off x="1554480" y="4626864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https://github.com/c-neel/MeetingLens.git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640080" y="5202936"/>
            <a:ext cx="6949440" cy="777240"/>
          </a:xfrm>
          <a:prstGeom prst="roundRect">
            <a:avLst>
              <a:gd name="adj" fmla="val 9412"/>
            </a:avLst>
          </a:prstGeom>
          <a:solidFill>
            <a:srgbClr val="12122A">
              <a:alpha val="88000"/>
            </a:srgbClr>
          </a:solidFill>
          <a:ln w="12700">
            <a:solidFill>
              <a:srgbClr val="3A3A5C"/>
            </a:solidFill>
            <a:prstDash val="solid"/>
          </a:ln>
        </p:spPr>
        <p:txBody>
          <a:bodyPr/>
          <a:lstStyle/>
          <a:p>
            <a:endParaRPr lang="en-IN" dirty="0"/>
          </a:p>
        </p:txBody>
      </p:sp>
      <p:sp>
        <p:nvSpPr>
          <p:cNvPr id="18" name="Shape 12"/>
          <p:cNvSpPr/>
          <p:nvPr/>
        </p:nvSpPr>
        <p:spPr>
          <a:xfrm>
            <a:off x="914400" y="5362956"/>
            <a:ext cx="457200" cy="457200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9" name="Image 4" descr="/home/claude/work/assets/icons/filetext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4128" y="5472684"/>
            <a:ext cx="237744" cy="237744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554480" y="5294376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cs typeface="Arial" pitchFamily="34" charset="-120"/>
              </a:rPr>
              <a:t>For System flowchart</a:t>
            </a:r>
            <a:endParaRPr lang="en-US" sz="1300" dirty="0"/>
          </a:p>
        </p:txBody>
      </p:sp>
      <p:sp>
        <p:nvSpPr>
          <p:cNvPr id="22" name="Text 15"/>
          <p:cNvSpPr txBox="1"/>
          <p:nvPr/>
        </p:nvSpPr>
        <p:spPr>
          <a:xfrm>
            <a:off x="685800" y="6199632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AFAC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Placeholder links — replace with your actual URLs before presenting.</a:t>
            </a:r>
            <a:endParaRPr lang="en-US" sz="10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8C6343E9-C430-C502-B761-1809C1AC05B1}"/>
              </a:ext>
            </a:extLst>
          </p:cNvPr>
          <p:cNvSpPr txBox="1"/>
          <p:nvPr/>
        </p:nvSpPr>
        <p:spPr>
          <a:xfrm>
            <a:off x="1554480" y="5650992"/>
            <a:ext cx="5989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100" dirty="0">
                <a:solidFill>
                  <a:srgbClr val="FFD9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https://drive.google.com/drive/folders/1wBP0v-pzmBOgUdyrPiJ8Yr8vwhN4W-9u?usp=drive_link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work/assets/bg_tit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home/claude/work/assets/swir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0800000">
            <a:off x="-2194560" y="-914400"/>
            <a:ext cx="4206240" cy="7165347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3977640" y="2606040"/>
            <a:ext cx="7498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1"/>
          <p:cNvSpPr txBox="1"/>
          <p:nvPr/>
        </p:nvSpPr>
        <p:spPr>
          <a:xfrm>
            <a:off x="4005072" y="34290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&amp; discussion welcome.</a:t>
            </a:r>
            <a:endParaRPr lang="en-US" sz="1600" dirty="0"/>
          </a:p>
        </p:txBody>
      </p:sp>
      <p:sp>
        <p:nvSpPr>
          <p:cNvPr id="6" name="Shape 2"/>
          <p:cNvSpPr/>
          <p:nvPr/>
        </p:nvSpPr>
        <p:spPr>
          <a:xfrm>
            <a:off x="4005072" y="4617720"/>
            <a:ext cx="384048" cy="384048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7" name="Image 2" descr="/home/claude/work/assets/icons/code_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97244" y="4709892"/>
            <a:ext cx="199705" cy="19970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507992" y="45811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github.com/c-neel/MeetingLens</a:t>
            </a:r>
            <a:endParaRPr lang="en-US" sz="1200" dirty="0"/>
          </a:p>
        </p:txBody>
      </p:sp>
      <p:sp>
        <p:nvSpPr>
          <p:cNvPr id="9" name="Shape 4"/>
          <p:cNvSpPr/>
          <p:nvPr/>
        </p:nvSpPr>
        <p:spPr>
          <a:xfrm>
            <a:off x="4005072" y="5184648"/>
            <a:ext cx="384048" cy="384048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0" name="Image 3" descr="/home/claude/work/assets/icons/mail_dar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97244" y="5276820"/>
            <a:ext cx="199705" cy="199705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4507992" y="514807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Neel Contractor</a:t>
            </a:r>
            <a:endParaRPr lang="en-US" sz="1200" dirty="0"/>
          </a:p>
        </p:txBody>
      </p:sp>
      <p:sp>
        <p:nvSpPr>
          <p:cNvPr id="12" name="Shape 6"/>
          <p:cNvSpPr/>
          <p:nvPr/>
        </p:nvSpPr>
        <p:spPr>
          <a:xfrm>
            <a:off x="4005072" y="5751576"/>
            <a:ext cx="384048" cy="384048"/>
          </a:xfrm>
          <a:prstGeom prst="ellipse">
            <a:avLst/>
          </a:prstGeom>
          <a:solidFill>
            <a:srgbClr val="FFD944"/>
          </a:solidFill>
          <a:ln w="12700">
            <a:solidFill>
              <a:srgbClr val="FFD944"/>
            </a:solidFill>
            <a:prstDash val="solid"/>
          </a:ln>
        </p:spPr>
      </p:sp>
      <p:pic>
        <p:nvPicPr>
          <p:cNvPr id="13" name="Image 4" descr="/home/claude/work/assets/icons/globe_d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097244" y="5843748"/>
            <a:ext cx="199705" cy="199705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507992" y="57150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D6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GLS University, Ahmedabad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1228</Words>
  <Application>Microsoft Office PowerPoint</Application>
  <PresentationFormat>Widescreen</PresentationFormat>
  <Paragraphs>201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harin bhavsar</cp:lastModifiedBy>
  <cp:revision>2</cp:revision>
  <dcterms:created xsi:type="dcterms:W3CDTF">2026-09-18T08:07:38Z</dcterms:created>
  <dcterms:modified xsi:type="dcterms:W3CDTF">2026-09-18T08:44:40Z</dcterms:modified>
</cp:coreProperties>
</file>